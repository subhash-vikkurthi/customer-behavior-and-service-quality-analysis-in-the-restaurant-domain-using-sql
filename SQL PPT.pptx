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94" r:id="rId3"/>
    <p:sldId id="292" r:id="rId4"/>
    <p:sldId id="293" r:id="rId5"/>
    <p:sldId id="288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4" r:id="rId29"/>
    <p:sldId id="283" r:id="rId30"/>
    <p:sldId id="285" r:id="rId31"/>
    <p:sldId id="286" r:id="rId32"/>
    <p:sldId id="289" r:id="rId33"/>
    <p:sldId id="291" r:id="rId34"/>
    <p:sldId id="290" r:id="rId35"/>
    <p:sldId id="259" r:id="rId36"/>
  </p:sldIdLst>
  <p:sldSz cx="12192000" cy="6858000"/>
  <p:notesSz cx="6858000" cy="9144000"/>
  <p:embeddedFontLst>
    <p:embeddedFont>
      <p:font typeface="Libre Baskerville" panose="02000000000000000000" pitchFamily="2" charset="0"/>
      <p:regular r:id="rId38"/>
      <p:bold r:id="rId39"/>
      <p: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3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C7C120-131F-4C9F-A9B0-16CA2168CCA7}" v="22" dt="2025-12-21T18:37:33.5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customschemas.google.com/relationships/presentationmetadata" Target="metadata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hash v" userId="d3d49bf50e633de7" providerId="LiveId" clId="{83B18D87-FAC6-4013-8E57-A674612BB058}"/>
    <pc:docChg chg="undo custSel addSld delSld modSld sldOrd">
      <pc:chgData name="sushash v" userId="d3d49bf50e633de7" providerId="LiveId" clId="{83B18D87-FAC6-4013-8E57-A674612BB058}" dt="2025-12-21T18:42:53.315" v="316"/>
      <pc:docMkLst>
        <pc:docMk/>
      </pc:docMkLst>
      <pc:sldChg chg="addSp delSp modSp mod">
        <pc:chgData name="sushash v" userId="d3d49bf50e633de7" providerId="LiveId" clId="{83B18D87-FAC6-4013-8E57-A674612BB058}" dt="2025-12-21T18:11:23.799" v="194" actId="20577"/>
        <pc:sldMkLst>
          <pc:docMk/>
          <pc:sldMk cId="0" sldId="256"/>
        </pc:sldMkLst>
        <pc:spChg chg="add del mod">
          <ac:chgData name="sushash v" userId="d3d49bf50e633de7" providerId="LiveId" clId="{83B18D87-FAC6-4013-8E57-A674612BB058}" dt="2025-12-21T18:08:16.269" v="101"/>
          <ac:spMkLst>
            <pc:docMk/>
            <pc:sldMk cId="0" sldId="256"/>
            <ac:spMk id="2" creationId="{67883B3E-EF87-77CE-EF7C-05A4A08FC681}"/>
          </ac:spMkLst>
        </pc:spChg>
        <pc:spChg chg="add mod">
          <ac:chgData name="sushash v" userId="d3d49bf50e633de7" providerId="LiveId" clId="{83B18D87-FAC6-4013-8E57-A674612BB058}" dt="2025-12-21T18:11:23.799" v="194" actId="20577"/>
          <ac:spMkLst>
            <pc:docMk/>
            <pc:sldMk cId="0" sldId="256"/>
            <ac:spMk id="3" creationId="{E897C8F7-A44A-048C-C82C-6A7DC88C46BD}"/>
          </ac:spMkLst>
        </pc:spChg>
        <pc:spChg chg="mod">
          <ac:chgData name="sushash v" userId="d3d49bf50e633de7" providerId="LiveId" clId="{83B18D87-FAC6-4013-8E57-A674612BB058}" dt="2025-12-21T18:07:40.002" v="96" actId="255"/>
          <ac:spMkLst>
            <pc:docMk/>
            <pc:sldMk cId="0" sldId="256"/>
            <ac:spMk id="99" creationId="{00000000-0000-0000-0000-000000000000}"/>
          </ac:spMkLst>
        </pc:spChg>
      </pc:sldChg>
      <pc:sldChg chg="modSp del mod">
        <pc:chgData name="sushash v" userId="d3d49bf50e633de7" providerId="LiveId" clId="{83B18D87-FAC6-4013-8E57-A674612BB058}" dt="2025-12-21T18:25:45.907" v="225" actId="2696"/>
        <pc:sldMkLst>
          <pc:docMk/>
          <pc:sldMk cId="0" sldId="257"/>
        </pc:sldMkLst>
        <pc:spChg chg="mod">
          <ac:chgData name="sushash v" userId="d3d49bf50e633de7" providerId="LiveId" clId="{83B18D87-FAC6-4013-8E57-A674612BB058}" dt="2025-12-21T18:13:04.992" v="224" actId="20577"/>
          <ac:spMkLst>
            <pc:docMk/>
            <pc:sldMk cId="0" sldId="257"/>
            <ac:spMk id="104" creationId="{00000000-0000-0000-0000-000000000000}"/>
          </ac:spMkLst>
        </pc:spChg>
      </pc:sldChg>
      <pc:sldChg chg="del ord">
        <pc:chgData name="sushash v" userId="d3d49bf50e633de7" providerId="LiveId" clId="{83B18D87-FAC6-4013-8E57-A674612BB058}" dt="2025-12-21T18:42:45.622" v="314" actId="2696"/>
        <pc:sldMkLst>
          <pc:docMk/>
          <pc:sldMk cId="0" sldId="258"/>
        </pc:sldMkLst>
      </pc:sldChg>
      <pc:sldChg chg="del">
        <pc:chgData name="sushash v" userId="d3d49bf50e633de7" providerId="LiveId" clId="{83B18D87-FAC6-4013-8E57-A674612BB058}" dt="2025-12-21T17:53:37.147" v="32" actId="2696"/>
        <pc:sldMkLst>
          <pc:docMk/>
          <pc:sldMk cId="662154818" sldId="263"/>
        </pc:sldMkLst>
      </pc:sldChg>
      <pc:sldChg chg="modSp mod">
        <pc:chgData name="sushash v" userId="d3d49bf50e633de7" providerId="LiveId" clId="{83B18D87-FAC6-4013-8E57-A674612BB058}" dt="2025-12-21T18:41:24.023" v="307" actId="20577"/>
        <pc:sldMkLst>
          <pc:docMk/>
          <pc:sldMk cId="2676155675" sldId="265"/>
        </pc:sldMkLst>
        <pc:spChg chg="mod">
          <ac:chgData name="sushash v" userId="d3d49bf50e633de7" providerId="LiveId" clId="{83B18D87-FAC6-4013-8E57-A674612BB058}" dt="2025-12-21T18:41:24.023" v="307" actId="20577"/>
          <ac:spMkLst>
            <pc:docMk/>
            <pc:sldMk cId="2676155675" sldId="265"/>
            <ac:spMk id="2" creationId="{111C879D-2089-EC42-A457-6D0F8611B4BC}"/>
          </ac:spMkLst>
        </pc:spChg>
      </pc:sldChg>
      <pc:sldChg chg="modSp mod">
        <pc:chgData name="sushash v" userId="d3d49bf50e633de7" providerId="LiveId" clId="{83B18D87-FAC6-4013-8E57-A674612BB058}" dt="2025-12-21T18:41:58.623" v="312" actId="1076"/>
        <pc:sldMkLst>
          <pc:docMk/>
          <pc:sldMk cId="1749483291" sldId="270"/>
        </pc:sldMkLst>
        <pc:picChg chg="mod">
          <ac:chgData name="sushash v" userId="d3d49bf50e633de7" providerId="LiveId" clId="{83B18D87-FAC6-4013-8E57-A674612BB058}" dt="2025-12-21T18:41:57.039" v="311" actId="1076"/>
          <ac:picMkLst>
            <pc:docMk/>
            <pc:sldMk cId="1749483291" sldId="270"/>
            <ac:picMk id="4" creationId="{11086C96-61E2-5C9E-FC18-D2CBF9F2A054}"/>
          </ac:picMkLst>
        </pc:picChg>
        <pc:picChg chg="mod">
          <ac:chgData name="sushash v" userId="d3d49bf50e633de7" providerId="LiveId" clId="{83B18D87-FAC6-4013-8E57-A674612BB058}" dt="2025-12-21T18:41:58.623" v="312" actId="1076"/>
          <ac:picMkLst>
            <pc:docMk/>
            <pc:sldMk cId="1749483291" sldId="270"/>
            <ac:picMk id="6" creationId="{4ED0D466-0320-15E2-8BC7-18931A5C7E78}"/>
          </ac:picMkLst>
        </pc:picChg>
      </pc:sldChg>
      <pc:sldChg chg="del">
        <pc:chgData name="sushash v" userId="d3d49bf50e633de7" providerId="LiveId" clId="{83B18D87-FAC6-4013-8E57-A674612BB058}" dt="2025-12-21T18:42:24.242" v="313" actId="2696"/>
        <pc:sldMkLst>
          <pc:docMk/>
          <pc:sldMk cId="2744469381" sldId="287"/>
        </pc:sldMkLst>
      </pc:sldChg>
      <pc:sldChg chg="modSp mod ord">
        <pc:chgData name="sushash v" userId="d3d49bf50e633de7" providerId="LiveId" clId="{83B18D87-FAC6-4013-8E57-A674612BB058}" dt="2025-12-21T18:34:02.579" v="256"/>
        <pc:sldMkLst>
          <pc:docMk/>
          <pc:sldMk cId="2802045608" sldId="288"/>
        </pc:sldMkLst>
        <pc:spChg chg="mod">
          <ac:chgData name="sushash v" userId="d3d49bf50e633de7" providerId="LiveId" clId="{83B18D87-FAC6-4013-8E57-A674612BB058}" dt="2025-12-21T17:47:53.648" v="31" actId="113"/>
          <ac:spMkLst>
            <pc:docMk/>
            <pc:sldMk cId="2802045608" sldId="288"/>
            <ac:spMk id="2" creationId="{9E037FE9-CEC7-FD07-3034-B36EA3F352AB}"/>
          </ac:spMkLst>
        </pc:spChg>
      </pc:sldChg>
      <pc:sldChg chg="addSp delSp modSp new mod">
        <pc:chgData name="sushash v" userId="d3d49bf50e633de7" providerId="LiveId" clId="{83B18D87-FAC6-4013-8E57-A674612BB058}" dt="2025-12-21T17:44:00.770" v="20" actId="1076"/>
        <pc:sldMkLst>
          <pc:docMk/>
          <pc:sldMk cId="1053659832" sldId="289"/>
        </pc:sldMkLst>
        <pc:spChg chg="mod">
          <ac:chgData name="sushash v" userId="d3d49bf50e633de7" providerId="LiveId" clId="{83B18D87-FAC6-4013-8E57-A674612BB058}" dt="2025-12-21T17:42:51.564" v="9" actId="255"/>
          <ac:spMkLst>
            <pc:docMk/>
            <pc:sldMk cId="1053659832" sldId="289"/>
            <ac:spMk id="2" creationId="{0D6CBA87-6D90-55C1-1628-49ED7A5C4892}"/>
          </ac:spMkLst>
        </pc:spChg>
        <pc:spChg chg="del">
          <ac:chgData name="sushash v" userId="d3d49bf50e633de7" providerId="LiveId" clId="{83B18D87-FAC6-4013-8E57-A674612BB058}" dt="2025-12-21T17:41:49.165" v="1"/>
          <ac:spMkLst>
            <pc:docMk/>
            <pc:sldMk cId="1053659832" sldId="289"/>
            <ac:spMk id="3" creationId="{5F2E1E6C-6CA1-5AC3-DD9F-C24FB18D9B09}"/>
          </ac:spMkLst>
        </pc:spChg>
        <pc:spChg chg="add mod">
          <ac:chgData name="sushash v" userId="d3d49bf50e633de7" providerId="LiveId" clId="{83B18D87-FAC6-4013-8E57-A674612BB058}" dt="2025-12-21T17:44:00.770" v="20" actId="1076"/>
          <ac:spMkLst>
            <pc:docMk/>
            <pc:sldMk cId="1053659832" sldId="289"/>
            <ac:spMk id="4" creationId="{358A8141-BF47-A197-20F0-5B22FB159886}"/>
          </ac:spMkLst>
        </pc:spChg>
      </pc:sldChg>
      <pc:sldChg chg="modSp new mod ord">
        <pc:chgData name="sushash v" userId="d3d49bf50e633de7" providerId="LiveId" clId="{83B18D87-FAC6-4013-8E57-A674612BB058}" dt="2025-12-21T18:42:53.315" v="316"/>
        <pc:sldMkLst>
          <pc:docMk/>
          <pc:sldMk cId="1019479015" sldId="290"/>
        </pc:sldMkLst>
        <pc:spChg chg="mod">
          <ac:chgData name="sushash v" userId="d3d49bf50e633de7" providerId="LiveId" clId="{83B18D87-FAC6-4013-8E57-A674612BB058}" dt="2025-12-21T17:56:20.065" v="53" actId="113"/>
          <ac:spMkLst>
            <pc:docMk/>
            <pc:sldMk cId="1019479015" sldId="290"/>
            <ac:spMk id="2" creationId="{E9DEBD10-F806-3CAF-441F-EFDF819DBB01}"/>
          </ac:spMkLst>
        </pc:spChg>
        <pc:spChg chg="mod">
          <ac:chgData name="sushash v" userId="d3d49bf50e633de7" providerId="LiveId" clId="{83B18D87-FAC6-4013-8E57-A674612BB058}" dt="2025-12-21T17:56:10.075" v="52" actId="14100"/>
          <ac:spMkLst>
            <pc:docMk/>
            <pc:sldMk cId="1019479015" sldId="290"/>
            <ac:spMk id="3" creationId="{983C8762-201D-4FA4-D506-5EBBD411A11D}"/>
          </ac:spMkLst>
        </pc:spChg>
      </pc:sldChg>
      <pc:sldChg chg="modSp new mod">
        <pc:chgData name="sushash v" userId="d3d49bf50e633de7" providerId="LiveId" clId="{83B18D87-FAC6-4013-8E57-A674612BB058}" dt="2025-12-21T18:01:19.026" v="62"/>
        <pc:sldMkLst>
          <pc:docMk/>
          <pc:sldMk cId="3813809716" sldId="291"/>
        </pc:sldMkLst>
        <pc:spChg chg="mod">
          <ac:chgData name="sushash v" userId="d3d49bf50e633de7" providerId="LiveId" clId="{83B18D87-FAC6-4013-8E57-A674612BB058}" dt="2025-12-21T18:01:19.026" v="62"/>
          <ac:spMkLst>
            <pc:docMk/>
            <pc:sldMk cId="3813809716" sldId="291"/>
            <ac:spMk id="2" creationId="{9E4775D0-44CE-CB7E-9492-50155D199FD4}"/>
          </ac:spMkLst>
        </pc:spChg>
        <pc:spChg chg="mod">
          <ac:chgData name="sushash v" userId="d3d49bf50e633de7" providerId="LiveId" clId="{83B18D87-FAC6-4013-8E57-A674612BB058}" dt="2025-12-21T18:00:57.619" v="61" actId="27636"/>
          <ac:spMkLst>
            <pc:docMk/>
            <pc:sldMk cId="3813809716" sldId="291"/>
            <ac:spMk id="3" creationId="{65C09A42-9A02-8298-3446-13E49D47DA45}"/>
          </ac:spMkLst>
        </pc:spChg>
      </pc:sldChg>
      <pc:sldChg chg="addSp modSp new mod">
        <pc:chgData name="sushash v" userId="d3d49bf50e633de7" providerId="LiveId" clId="{83B18D87-FAC6-4013-8E57-A674612BB058}" dt="2025-12-21T18:32:06.277" v="240" actId="1076"/>
        <pc:sldMkLst>
          <pc:docMk/>
          <pc:sldMk cId="113737187" sldId="292"/>
        </pc:sldMkLst>
        <pc:spChg chg="mod">
          <ac:chgData name="sushash v" userId="d3d49bf50e633de7" providerId="LiveId" clId="{83B18D87-FAC6-4013-8E57-A674612BB058}" dt="2025-12-21T18:31:21.367" v="234" actId="113"/>
          <ac:spMkLst>
            <pc:docMk/>
            <pc:sldMk cId="113737187" sldId="292"/>
            <ac:spMk id="2" creationId="{A6951B34-0548-473E-34D6-1D06D7ABE330}"/>
          </ac:spMkLst>
        </pc:spChg>
        <pc:picChg chg="add mod">
          <ac:chgData name="sushash v" userId="d3d49bf50e633de7" providerId="LiveId" clId="{83B18D87-FAC6-4013-8E57-A674612BB058}" dt="2025-12-21T18:32:06.277" v="240" actId="1076"/>
          <ac:picMkLst>
            <pc:docMk/>
            <pc:sldMk cId="113737187" sldId="292"/>
            <ac:picMk id="4" creationId="{F1CEE636-3C21-2EC8-4686-696BDEA2FD8A}"/>
          </ac:picMkLst>
        </pc:picChg>
      </pc:sldChg>
      <pc:sldChg chg="addSp modSp new mod">
        <pc:chgData name="sushash v" userId="d3d49bf50e633de7" providerId="LiveId" clId="{83B18D87-FAC6-4013-8E57-A674612BB058}" dt="2025-12-21T18:33:46.938" v="254" actId="1076"/>
        <pc:sldMkLst>
          <pc:docMk/>
          <pc:sldMk cId="2457521155" sldId="293"/>
        </pc:sldMkLst>
        <pc:picChg chg="add mod">
          <ac:chgData name="sushash v" userId="d3d49bf50e633de7" providerId="LiveId" clId="{83B18D87-FAC6-4013-8E57-A674612BB058}" dt="2025-12-21T18:32:27.509" v="243" actId="1076"/>
          <ac:picMkLst>
            <pc:docMk/>
            <pc:sldMk cId="2457521155" sldId="293"/>
            <ac:picMk id="3" creationId="{C42C4BE0-2829-F868-A631-C9B13A4373B0}"/>
          </ac:picMkLst>
        </pc:picChg>
        <pc:picChg chg="add mod">
          <ac:chgData name="sushash v" userId="d3d49bf50e633de7" providerId="LiveId" clId="{83B18D87-FAC6-4013-8E57-A674612BB058}" dt="2025-12-21T18:33:25.122" v="251" actId="14100"/>
          <ac:picMkLst>
            <pc:docMk/>
            <pc:sldMk cId="2457521155" sldId="293"/>
            <ac:picMk id="5" creationId="{37EFD788-8B59-699D-459F-3F6DCF4B0340}"/>
          </ac:picMkLst>
        </pc:picChg>
        <pc:picChg chg="add mod">
          <ac:chgData name="sushash v" userId="d3d49bf50e633de7" providerId="LiveId" clId="{83B18D87-FAC6-4013-8E57-A674612BB058}" dt="2025-12-21T18:33:46.938" v="254" actId="1076"/>
          <ac:picMkLst>
            <pc:docMk/>
            <pc:sldMk cId="2457521155" sldId="293"/>
            <ac:picMk id="7" creationId="{4F22019E-57A1-4AB6-F5F3-71F4D1ADF3B9}"/>
          </ac:picMkLst>
        </pc:picChg>
        <pc:picChg chg="add mod">
          <ac:chgData name="sushash v" userId="d3d49bf50e633de7" providerId="LiveId" clId="{83B18D87-FAC6-4013-8E57-A674612BB058}" dt="2025-12-21T18:33:40.642" v="253" actId="1076"/>
          <ac:picMkLst>
            <pc:docMk/>
            <pc:sldMk cId="2457521155" sldId="293"/>
            <ac:picMk id="9" creationId="{1F6E71B1-28C8-3C41-1512-D24C2492101D}"/>
          </ac:picMkLst>
        </pc:picChg>
      </pc:sldChg>
      <pc:sldChg chg="modSp new mod ord">
        <pc:chgData name="sushash v" userId="d3d49bf50e633de7" providerId="LiveId" clId="{83B18D87-FAC6-4013-8E57-A674612BB058}" dt="2025-12-21T18:39:09.571" v="292"/>
        <pc:sldMkLst>
          <pc:docMk/>
          <pc:sldMk cId="704284189" sldId="294"/>
        </pc:sldMkLst>
        <pc:spChg chg="mod">
          <ac:chgData name="sushash v" userId="d3d49bf50e633de7" providerId="LiveId" clId="{83B18D87-FAC6-4013-8E57-A674612BB058}" dt="2025-12-21T18:37:27.551" v="272" actId="122"/>
          <ac:spMkLst>
            <pc:docMk/>
            <pc:sldMk cId="704284189" sldId="294"/>
            <ac:spMk id="2" creationId="{E1F0F041-D250-CF39-67F3-298C5F745785}"/>
          </ac:spMkLst>
        </pc:spChg>
        <pc:spChg chg="mod">
          <ac:chgData name="sushash v" userId="d3d49bf50e633de7" providerId="LiveId" clId="{83B18D87-FAC6-4013-8E57-A674612BB058}" dt="2025-12-21T18:38:20.225" v="290" actId="14100"/>
          <ac:spMkLst>
            <pc:docMk/>
            <pc:sldMk cId="704284189" sldId="294"/>
            <ac:spMk id="3" creationId="{8B58BEF2-D3FA-31EA-97EF-672DB6F8112C}"/>
          </ac:spMkLst>
        </pc:spChg>
      </pc:sldChg>
      <pc:sldChg chg="new del">
        <pc:chgData name="sushash v" userId="d3d49bf50e633de7" providerId="LiveId" clId="{83B18D87-FAC6-4013-8E57-A674612BB058}" dt="2025-12-21T18:37:09.073" v="258" actId="2696"/>
        <pc:sldMkLst>
          <pc:docMk/>
          <pc:sldMk cId="2450724569" sldId="29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5"/>
            <a:ext cx="7730969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US" sz="2400" b="1" dirty="0"/>
              <a:t>Customer Behavior and Service Quality Analysis in the Restaurant Domain Using SQL</a:t>
            </a:r>
            <a:endParaRPr sz="2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97C8F7-A44A-048C-C82C-6A7DC88C46BD}"/>
              </a:ext>
            </a:extLst>
          </p:cNvPr>
          <p:cNvSpPr txBox="1"/>
          <p:nvPr/>
        </p:nvSpPr>
        <p:spPr>
          <a:xfrm>
            <a:off x="6837218" y="4966855"/>
            <a:ext cx="409401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Presented By:</a:t>
            </a:r>
            <a:endParaRPr lang="en-IN" sz="2000" dirty="0"/>
          </a:p>
          <a:p>
            <a:r>
              <a:rPr lang="en-IN" sz="2000" dirty="0"/>
              <a:t>  	V . Subhash</a:t>
            </a:r>
          </a:p>
          <a:p>
            <a:r>
              <a:rPr lang="en-IN" sz="2000" dirty="0"/>
              <a:t>	S . Mohan Chandra</a:t>
            </a:r>
          </a:p>
          <a:p>
            <a:r>
              <a:rPr lang="en-IN" sz="2000" dirty="0"/>
              <a:t>	P . Praveen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0F041-D250-CF39-67F3-298C5F745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OBJECTIVE</a:t>
            </a: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58BEF2-D3FA-31EA-97EF-672DB6F81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452957"/>
          </a:xfrm>
        </p:spPr>
        <p:txBody>
          <a:bodyPr>
            <a:normAutofit/>
          </a:bodyPr>
          <a:lstStyle/>
          <a:p>
            <a:r>
              <a:rPr lang="en-US" sz="2400" dirty="0"/>
              <a:t>Restaurants have lots of customer data but don't know what it really means</a:t>
            </a:r>
          </a:p>
          <a:p>
            <a:r>
              <a:rPr lang="en-US" sz="2400" dirty="0"/>
              <a:t>Owners can't easily find out: Who loves my food? Where am I failing? What should I improve?</a:t>
            </a:r>
          </a:p>
          <a:p>
            <a:r>
              <a:rPr lang="en-US" sz="2400" dirty="0"/>
              <a:t>Important questions stay unanswered because the data is "locked" in tables</a:t>
            </a:r>
          </a:p>
          <a:p>
            <a:r>
              <a:rPr lang="en-US" sz="2400" dirty="0"/>
              <a:t>This project uses SQL to unlock and </a:t>
            </a:r>
            <a:r>
              <a:rPr lang="en-US" sz="2400" dirty="0" err="1"/>
              <a:t>analyse</a:t>
            </a:r>
            <a:r>
              <a:rPr lang="en-US" sz="2400" dirty="0"/>
              <a:t> the data quickly and correctly</a:t>
            </a:r>
          </a:p>
          <a:p>
            <a:r>
              <a:rPr lang="en-US" sz="2400" dirty="0"/>
              <a:t>Goal: Give restaurant owners simple, actionable ideas to get more happy customers and earn more money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04284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51B34-0548-473E-34D6-1D06D7ABE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TABLES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CEE636-3C21-2EC8-4686-696BDEA2F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62187"/>
            <a:ext cx="10515600" cy="2515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37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2C4BE0-2829-F868-A631-C9B13A437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666" y="799733"/>
            <a:ext cx="2619741" cy="26292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EFD788-8B59-699D-459F-3F6DCF4B0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8674" y="799733"/>
            <a:ext cx="3724281" cy="28102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22019E-57A1-4AB6-F5F3-71F4D1ADF3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191" y="3985118"/>
            <a:ext cx="10567554" cy="23121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6E71B1-28C8-3C41-1512-D24C249210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5478" y="799733"/>
            <a:ext cx="2448267" cy="2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521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37FE9-CEC7-FD07-3034-B36EA3F35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ER-Diagram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9C00F2-8970-2AE9-8E94-5C686B47D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154" y="1532500"/>
            <a:ext cx="954405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045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FB39C-C0CD-5569-F4F5-5B8D8499B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Using the WHERE clause to filter data based on specific criteria.</a:t>
            </a:r>
            <a:br>
              <a:rPr lang="en-US" sz="2800" b="1" dirty="0"/>
            </a:br>
            <a:br>
              <a:rPr lang="en-US" sz="2800" b="1" dirty="0"/>
            </a:br>
            <a:r>
              <a:rPr lang="en-US" sz="2400" dirty="0"/>
              <a:t>1)List all details of consumers who live in the city of </a:t>
            </a:r>
            <a:r>
              <a:rPr lang="en-US" sz="2400" dirty="0" err="1"/>
              <a:t>Cuernavac</a:t>
            </a:r>
            <a:r>
              <a:rPr lang="en-US" sz="2400" dirty="0"/>
              <a:t>.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7A38D-A6B3-1C2E-8A01-201553AACB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90B989-BA68-4EEF-9D73-7B8052B048C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CF3B13-E5D3-E759-CA7F-636CB97AFBA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17B77C8-3E2B-AFEA-6B43-82722B7E2252}"/>
              </a:ext>
            </a:extLst>
          </p:cNvPr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D8D2A4-7F4D-0045-21EB-DF9E497EE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229" y="1732270"/>
            <a:ext cx="4774667" cy="9201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1A2E697-7493-1EF1-DCE0-2E00C9EF4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12" y="2826910"/>
            <a:ext cx="10273841" cy="3040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451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1062B-32F4-93CD-4C14-8A7B941CA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2) Find the </a:t>
            </a:r>
            <a:r>
              <a:rPr lang="en-US" sz="2400" dirty="0" err="1"/>
              <a:t>Consumer_ID</a:t>
            </a:r>
            <a:r>
              <a:rPr lang="en-US" sz="2400" dirty="0"/>
              <a:t>, Age, and Occupation of all consumers who are 'Students' AND are 'Smokers'.</a:t>
            </a:r>
            <a:endParaRPr lang="en-IN" sz="2400" dirty="0"/>
          </a:p>
        </p:txBody>
      </p:sp>
      <p:pic>
        <p:nvPicPr>
          <p:cNvPr id="102" name="Picture 101">
            <a:extLst>
              <a:ext uri="{FF2B5EF4-FFF2-40B4-BE49-F238E27FC236}">
                <a16:creationId xmlns:a16="http://schemas.microsoft.com/office/drawing/2014/main" id="{F29D1CBC-6D36-28D9-45F8-DF9DE898B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690688"/>
            <a:ext cx="5958348" cy="895475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48715631-9FB0-7E4F-7C18-C10A1AD46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9109" y="2639117"/>
            <a:ext cx="4483509" cy="326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957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C5E46-F220-B80D-6FD9-D6161F50F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3) List the Name, City, </a:t>
            </a:r>
            <a:r>
              <a:rPr lang="en-US" sz="2400" dirty="0" err="1"/>
              <a:t>Alcohol_Service</a:t>
            </a:r>
            <a:r>
              <a:rPr lang="en-US" sz="2400" dirty="0"/>
              <a:t>, and Price of all restaurants that serve 'Wine &amp; Beer' and have a 'Medium' price level. 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D4252F-2C7F-3C63-8A28-5D2E4F28F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603" y="1849130"/>
            <a:ext cx="6220794" cy="7049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FE4270-08B6-AF0E-41CE-142E2E573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6775" y="2712520"/>
            <a:ext cx="7503806" cy="30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883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D0331-85E6-65A8-0990-37BB2CDC7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4) Find the names and cities of all restaurants that are part of a 'Franchise'.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56A830-F98E-D74F-0B3A-4BC69696F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3513" y="1891320"/>
            <a:ext cx="5019734" cy="8573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42962F-827D-25AD-B0BC-2A320A769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2968" y="2949322"/>
            <a:ext cx="4562167" cy="28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86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C879D-2089-EC42-A457-6D0F8611B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5) Show the Consumer _ ID , Restaurant _ ID , and Overall _ Rating for all ratings where the Overall _ Rating was 'Highly Satisfactory' (which corresponds to a value of 2, according to the data dictionary).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6BBDED-26FE-6026-C296-E318C632B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561" y="1873757"/>
            <a:ext cx="6548284" cy="8097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787E56-78CA-767E-E800-49264AAF9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2466" y="2866564"/>
            <a:ext cx="4906296" cy="306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155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2F614-6C1F-C3FC-0057-D3E5B8EB1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/>
              <a:t>Questions JOINs with Subqueries</a:t>
            </a:r>
            <a:br>
              <a:rPr lang="en-IN" sz="2400" dirty="0"/>
            </a:br>
            <a:r>
              <a:rPr lang="en-IN" sz="2400" dirty="0"/>
              <a:t>1) L</a:t>
            </a:r>
            <a:r>
              <a:rPr lang="en-US" sz="2400" dirty="0" err="1"/>
              <a:t>ist</a:t>
            </a:r>
            <a:r>
              <a:rPr lang="en-US" sz="2400" dirty="0"/>
              <a:t> the names and cities of all restaurants that have an </a:t>
            </a:r>
            <a:r>
              <a:rPr lang="en-US" sz="2400" dirty="0" err="1"/>
              <a:t>Overall_Rating</a:t>
            </a:r>
            <a:r>
              <a:rPr lang="en-US" sz="2400" dirty="0"/>
              <a:t> of 2 (Highly Satisfactory) from at least one consumer.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1BBA56-A373-3C05-C684-B326048C0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7505" y="1881580"/>
            <a:ext cx="4610743" cy="9907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B17D15-91F1-B4B8-3A2F-17EF6B1CF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505" y="3063210"/>
            <a:ext cx="4429743" cy="303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350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EE14A-8C7C-70C9-CBE9-6D1003A73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2) Find the </a:t>
            </a:r>
            <a:r>
              <a:rPr lang="en-US" sz="2400" dirty="0" err="1"/>
              <a:t>Consumer_ID</a:t>
            </a:r>
            <a:r>
              <a:rPr lang="en-US" sz="2400" dirty="0"/>
              <a:t> and Age of consumers who have rated restaurants located in 'San Luis Potosi'. 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62B10E-E98D-DF3C-6201-64509EB20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448" y="2993048"/>
            <a:ext cx="1810003" cy="30484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963139-5CC5-F497-6B32-43EF709AE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8815" y="1798867"/>
            <a:ext cx="4439270" cy="10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502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EF476-BCE4-7563-C382-622C444E0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3) List the names of restaurants that serve 'Mexican' cuisine and have been rated by consumer 'U1001'.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A2E51F-4468-12D1-CE0A-8593999BD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759" y="1968671"/>
            <a:ext cx="5058481" cy="12098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1CA54D-1996-ED4B-0BF7-C08944686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120" y="3679486"/>
            <a:ext cx="5891873" cy="158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963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78051-26B1-B502-5B3A-739D8F939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4) Find all details of consumers who prefer 'American' cuisine AND have a 'Medium' budget. 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85C057-440D-4445-F9BB-85DBB016B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449" y="1815991"/>
            <a:ext cx="5211097" cy="15146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276C06-D150-8B50-1A85-B154178AF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460" y="3601007"/>
            <a:ext cx="10341077" cy="1799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767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710A9-7188-8BE5-F5D4-6149F782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5) List restaurants (Name, City) that have received a </a:t>
            </a:r>
            <a:r>
              <a:rPr lang="en-US" sz="2400" dirty="0" err="1"/>
              <a:t>Food_Rating</a:t>
            </a:r>
            <a:r>
              <a:rPr lang="en-US" sz="2400" dirty="0"/>
              <a:t> lower than the average </a:t>
            </a:r>
            <a:r>
              <a:rPr lang="en-US" sz="2400" dirty="0" err="1"/>
              <a:t>Food_Rating</a:t>
            </a:r>
            <a:r>
              <a:rPr lang="en-US" sz="2400" dirty="0"/>
              <a:t> across all rated restaurants.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086C96-61E2-5C9E-FC18-D2CBF9F2A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969" y="1522301"/>
            <a:ext cx="4939548" cy="18290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D0D466-0320-15E2-8BC7-18931A5C7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5135" y="3429000"/>
            <a:ext cx="7779215" cy="257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4832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B273A-D8BE-7535-4C58-474DC11FB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6) Find consumers (</a:t>
            </a:r>
            <a:r>
              <a:rPr lang="en-US" sz="2400" dirty="0" err="1"/>
              <a:t>Consumer_ID</a:t>
            </a:r>
            <a:r>
              <a:rPr lang="en-US" sz="2400" dirty="0"/>
              <a:t>, Age, Occupation) who have rated at least one restaurant but have NOT rated any restaurant that serves 'Italian' cuisine. 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14A3DA-728D-DCCC-3463-13A0E23DF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019" y="1766175"/>
            <a:ext cx="3723968" cy="41233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CE56D5-6983-EDD0-6BF6-B5163CC4E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916" y="1766175"/>
            <a:ext cx="3982065" cy="4123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938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B55C4-5CB8-929E-1C49-2F55526E7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7) List restaurants (Name) that have received ratings from consumers older than 30.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C48A96-BC11-EA73-EB46-24E692ACC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495" y="2266830"/>
            <a:ext cx="3538602" cy="28361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BEDCB0-0BCB-9189-60C2-10DEFA470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5198" y="2266829"/>
            <a:ext cx="2438740" cy="342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7818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D0C42-B028-7E77-9D1E-6D2726C1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8) Find the </a:t>
            </a:r>
            <a:r>
              <a:rPr lang="en-US" sz="2400" dirty="0" err="1"/>
              <a:t>Consumer_ID</a:t>
            </a:r>
            <a:r>
              <a:rPr lang="en-US" sz="2400" dirty="0"/>
              <a:t> and Occupation of consumers whose preferred cuisine is 'Mexican' and who have given an </a:t>
            </a:r>
            <a:r>
              <a:rPr lang="en-US" sz="2400" dirty="0" err="1"/>
              <a:t>Overall_Rating</a:t>
            </a:r>
            <a:r>
              <a:rPr lang="en-US" sz="2400" dirty="0"/>
              <a:t> of 0 to at least one restaurant (any restaurant). 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A8167E-1F09-502A-7121-1E2D4B087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903" y="2325038"/>
            <a:ext cx="3772426" cy="19719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6582DA-3FCA-1908-CBE7-A6E8DF451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256" y="1895261"/>
            <a:ext cx="2372056" cy="306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1185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6DA9B-81E2-54E6-DD44-0A9084508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9) List the names and cities of restaurants that serve 'Pizzeria' cuisine and are located in a city where at least one 'Student' consumer lives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E35C11-8BA5-605B-3E70-04DC47198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659" y="2181183"/>
            <a:ext cx="3238952" cy="28102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E0A3E8-04A6-DE80-DF22-D90C012A4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0601" y="3129052"/>
            <a:ext cx="2781688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9690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B9B54-6890-D62E-5E87-DCDCA4E85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10) Find consumers (</a:t>
            </a:r>
            <a:r>
              <a:rPr lang="en-US" sz="2400" dirty="0" err="1"/>
              <a:t>Consumer_ID</a:t>
            </a:r>
            <a:r>
              <a:rPr lang="en-US" sz="2400" dirty="0"/>
              <a:t>, Age) who are 'Social Drinkers' and have rated a restaurant that has 'No' parking.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7D095B-C414-8B45-1301-BC691CF2B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621" y="2284094"/>
            <a:ext cx="1857634" cy="30960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BF91C5-4E34-405C-106E-5CED2F398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4070" y="2812804"/>
            <a:ext cx="3429479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865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7DC36-B976-0E84-ECF5-D1234C399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32501"/>
          </a:xfrm>
        </p:spPr>
        <p:txBody>
          <a:bodyPr>
            <a:normAutofit/>
          </a:bodyPr>
          <a:lstStyle/>
          <a:p>
            <a:r>
              <a:rPr lang="en-US" sz="2800" b="1" dirty="0"/>
              <a:t>Questions Emphasizing WHERE Clause and Order of Execution </a:t>
            </a:r>
            <a:br>
              <a:rPr lang="en-US" sz="2400" dirty="0"/>
            </a:br>
            <a:r>
              <a:rPr lang="en-US" sz="2400" dirty="0"/>
              <a:t>1) List </a:t>
            </a:r>
            <a:r>
              <a:rPr lang="en-US" sz="2400" dirty="0" err="1"/>
              <a:t>Consumer_IDs</a:t>
            </a:r>
            <a:r>
              <a:rPr lang="en-US" sz="2400" dirty="0"/>
              <a:t> and the count of restaurants they've rated, but only for consumers who are 'Students'. Show only students who have rated more than 2 restaurants. 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46C891-C2D0-1C9D-E0E0-15247EACC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152" y="2552577"/>
            <a:ext cx="5058481" cy="17528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42C5F8-36CA-611A-150D-108EBCAD1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8368" y="2446480"/>
            <a:ext cx="2191056" cy="31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6973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91422-6CE8-8904-B411-A93F2EB67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2) We want to categorize consumers by an '</a:t>
            </a:r>
            <a:r>
              <a:rPr lang="en-US" sz="2000" dirty="0" err="1"/>
              <a:t>Engagement_Score</a:t>
            </a:r>
            <a:r>
              <a:rPr lang="en-US" sz="2000" dirty="0"/>
              <a:t>' which is their Age divided by 10 (integer division). List the </a:t>
            </a:r>
            <a:r>
              <a:rPr lang="en-US" sz="2000" dirty="0" err="1"/>
              <a:t>Consumer_ID</a:t>
            </a:r>
            <a:r>
              <a:rPr lang="en-US" sz="2000" dirty="0"/>
              <a:t>, Age, and this calculated </a:t>
            </a:r>
            <a:r>
              <a:rPr lang="en-US" sz="2000" dirty="0" err="1"/>
              <a:t>Engagement_Score</a:t>
            </a:r>
            <a:r>
              <a:rPr lang="en-US" sz="2000" dirty="0"/>
              <a:t>, but only for consumers whose </a:t>
            </a:r>
            <a:r>
              <a:rPr lang="en-US" sz="2000" dirty="0" err="1"/>
              <a:t>Engagement_Score</a:t>
            </a:r>
            <a:r>
              <a:rPr lang="en-US" sz="2000" dirty="0"/>
              <a:t> would be exactly 2 and who use 'Public' transportation.</a:t>
            </a:r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5E7B45-2C04-0063-1319-441EEC425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44" y="2688436"/>
            <a:ext cx="4677428" cy="10288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585B5E-2489-BB93-6A7D-68D1F4414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830" y="2853401"/>
            <a:ext cx="3077004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1041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ADD52-CA95-C77E-D917-57B80D7B1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3)For each restaurant, calculate its average </a:t>
            </a:r>
            <a:r>
              <a:rPr lang="en-US" sz="2400" dirty="0" err="1"/>
              <a:t>Overall_Rating</a:t>
            </a:r>
            <a:r>
              <a:rPr lang="en-US" sz="2400" dirty="0"/>
              <a:t>. Then, list the restaurant Name, City, and its calculated average </a:t>
            </a:r>
            <a:r>
              <a:rPr lang="en-US" sz="2400" dirty="0" err="1"/>
              <a:t>Overall_Rating</a:t>
            </a:r>
            <a:r>
              <a:rPr lang="en-US" sz="2400" dirty="0"/>
              <a:t>, but only for restaurants located in 'Cuernavaca' AND whose calculated average </a:t>
            </a:r>
            <a:r>
              <a:rPr lang="en-US" sz="2400" dirty="0" err="1"/>
              <a:t>Overall_Rating</a:t>
            </a:r>
            <a:r>
              <a:rPr lang="en-US" sz="2400" dirty="0"/>
              <a:t> is greater than 1.0. 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3BD533-08F7-0317-6500-80F0EF0E5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18" y="2519235"/>
            <a:ext cx="5944430" cy="18195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9F0619-D831-E971-92D2-22EBD9D09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3819" y="2158897"/>
            <a:ext cx="4391638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8175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0FEFB-A61D-C013-9858-634D913A1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4) Find consumers (</a:t>
            </a:r>
            <a:r>
              <a:rPr lang="en-US" sz="2400" dirty="0" err="1"/>
              <a:t>Consumer_ID</a:t>
            </a:r>
            <a:r>
              <a:rPr lang="en-US" sz="2400" dirty="0"/>
              <a:t>, Age) who are 'Married' and whose </a:t>
            </a:r>
            <a:r>
              <a:rPr lang="en-US" sz="2400" dirty="0" err="1"/>
              <a:t>Food_Rating</a:t>
            </a:r>
            <a:r>
              <a:rPr lang="en-US" sz="2400" dirty="0"/>
              <a:t> for any restaurant is equal to their </a:t>
            </a:r>
            <a:r>
              <a:rPr lang="en-US" sz="2400" dirty="0" err="1"/>
              <a:t>Service_Rating</a:t>
            </a:r>
            <a:r>
              <a:rPr lang="en-US" sz="2400" dirty="0"/>
              <a:t> for that same restaurant, but only consider ratings where the </a:t>
            </a:r>
            <a:r>
              <a:rPr lang="en-US" sz="2400" dirty="0" err="1"/>
              <a:t>Overall_Rating</a:t>
            </a:r>
            <a:r>
              <a:rPr lang="en-US" sz="2400" dirty="0"/>
              <a:t> was 2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DCF1CB-F8F1-3A45-195C-61E113D2A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646" y="2105014"/>
            <a:ext cx="3762900" cy="23530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954C2E-9815-5756-5B01-7AE0D73C7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7538" y="2205040"/>
            <a:ext cx="1752845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3141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E59CC-8AD3-4C72-87DA-D8568107F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5) List </a:t>
            </a:r>
            <a:r>
              <a:rPr lang="en-US" sz="2400" dirty="0" err="1"/>
              <a:t>Consumer_ID</a:t>
            </a:r>
            <a:r>
              <a:rPr lang="en-US" sz="2400" dirty="0"/>
              <a:t>, Age, and the Name of any restaurant they rated, but only for consumers who are 'Employed' and have given a </a:t>
            </a:r>
            <a:r>
              <a:rPr lang="en-US" sz="2400" dirty="0" err="1"/>
              <a:t>Food_Rating</a:t>
            </a:r>
            <a:r>
              <a:rPr lang="en-US" sz="2400" dirty="0"/>
              <a:t> of 0 to at least one restaurant located in 'Ciudad Victoria'.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E39B0A-9799-086A-CA75-FB00ABB91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554" y="2276314"/>
            <a:ext cx="5544324" cy="23053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14D677-5855-1660-1838-AA2486435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0318" y="2875729"/>
            <a:ext cx="3038899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0070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B62B7-2B90-029A-923E-7C0736368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400" b="1" dirty="0"/>
              <a:t>Advanced SQL Concepts: Derived Tables, CTEs, Window Functions, Views, Stored Procedures</a:t>
            </a:r>
            <a:br>
              <a:rPr lang="en-US" sz="2400" b="1" dirty="0"/>
            </a:br>
            <a:r>
              <a:rPr lang="en-US" sz="2400" dirty="0"/>
              <a:t>1)</a:t>
            </a:r>
            <a:r>
              <a:rPr lang="en-US" sz="2400" b="1" dirty="0"/>
              <a:t> </a:t>
            </a:r>
            <a:r>
              <a:rPr lang="en-US" sz="2400" dirty="0"/>
              <a:t>For each Occupation, find the average age of consumers. Only consider consumers who have made at least one rating. (Use a derived table to get consumers who have rated). 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B5562A-38CD-C41B-E54D-A81E3B476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506" y="2695911"/>
            <a:ext cx="3829584" cy="18004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C918D7-E763-3CDC-D02E-1017D0040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7483" y="3149550"/>
            <a:ext cx="1971950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7437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24370-6144-6721-DF37-B663A09B5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2) For each rating, show the </a:t>
            </a:r>
            <a:r>
              <a:rPr lang="en-US" sz="2400" dirty="0" err="1"/>
              <a:t>Consumer_ID</a:t>
            </a:r>
            <a:r>
              <a:rPr lang="en-US" sz="2400" dirty="0"/>
              <a:t>, </a:t>
            </a:r>
            <a:r>
              <a:rPr lang="en-US" sz="2400" dirty="0" err="1"/>
              <a:t>Restaurant_ID</a:t>
            </a:r>
            <a:r>
              <a:rPr lang="en-US" sz="2400" dirty="0"/>
              <a:t>, </a:t>
            </a:r>
            <a:r>
              <a:rPr lang="en-US" sz="2400" dirty="0" err="1"/>
              <a:t>Overall_Rating</a:t>
            </a:r>
            <a:r>
              <a:rPr lang="en-US" sz="2400" dirty="0"/>
              <a:t>, and also display the average </a:t>
            </a:r>
            <a:r>
              <a:rPr lang="en-US" sz="2400" dirty="0" err="1"/>
              <a:t>Overall_Rating</a:t>
            </a:r>
            <a:r>
              <a:rPr lang="en-US" sz="2400" dirty="0"/>
              <a:t> given by that specific consumer across all their ratings.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8E93B9-65F6-EFE6-B836-D2E13C8D8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62" y="2196212"/>
            <a:ext cx="4420217" cy="9907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3ADAB3-B210-39FC-8C70-59981E578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683" y="2047814"/>
            <a:ext cx="5229955" cy="307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251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1A60E-FD72-71EF-ECB2-12367852E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3) Consider all ratings made by '</a:t>
            </a:r>
            <a:r>
              <a:rPr lang="en-US" sz="2400" dirty="0" err="1"/>
              <a:t>Consumer_ID</a:t>
            </a:r>
            <a:r>
              <a:rPr lang="en-US" sz="2400" dirty="0"/>
              <a:t>' = 'U1008'. For each rating, show the </a:t>
            </a:r>
            <a:r>
              <a:rPr lang="en-US" sz="2400" dirty="0" err="1"/>
              <a:t>Restaurant_ID</a:t>
            </a:r>
            <a:r>
              <a:rPr lang="en-US" sz="2400" dirty="0"/>
              <a:t>, </a:t>
            </a:r>
            <a:r>
              <a:rPr lang="en-US" sz="2400" dirty="0" err="1"/>
              <a:t>Overall_Rating</a:t>
            </a:r>
            <a:r>
              <a:rPr lang="en-US" sz="2400" dirty="0"/>
              <a:t>, and the </a:t>
            </a:r>
            <a:r>
              <a:rPr lang="en-US" sz="2400" dirty="0" err="1"/>
              <a:t>Overall_Rating</a:t>
            </a:r>
            <a:r>
              <a:rPr lang="en-US" sz="2400" dirty="0"/>
              <a:t> of the next restaurant they rated (if any), ordered by </a:t>
            </a:r>
            <a:r>
              <a:rPr lang="en-US" sz="2400" dirty="0" err="1"/>
              <a:t>Restaurant_ID</a:t>
            </a:r>
            <a:r>
              <a:rPr lang="en-US" sz="2400" dirty="0"/>
              <a:t> (as a proxy for time if rating time isn't available). Use a derived table to filter for the consumer's ratings first. 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D82FC3-0030-4D7D-D05A-73A4427D9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046" y="1830672"/>
            <a:ext cx="6582694" cy="18004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F54376-FAD8-0B47-60AF-D1BB5F74B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8477" y="3556211"/>
            <a:ext cx="4153480" cy="210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2165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DBFE-63AA-B1DC-8846-E107A48C6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4) Create a VIEW named </a:t>
            </a:r>
            <a:r>
              <a:rPr lang="en-US" sz="2400" dirty="0" err="1"/>
              <a:t>HighlyRatedMexicanRestaurants</a:t>
            </a:r>
            <a:r>
              <a:rPr lang="en-US" sz="2400" dirty="0"/>
              <a:t> that shows the </a:t>
            </a:r>
            <a:r>
              <a:rPr lang="en-US" sz="2400" dirty="0" err="1"/>
              <a:t>Restaurant_ID</a:t>
            </a:r>
            <a:r>
              <a:rPr lang="en-US" sz="2400" dirty="0"/>
              <a:t>, Name, and City of all Mexican restaurants that have an average </a:t>
            </a:r>
            <a:r>
              <a:rPr lang="en-US" sz="2400" dirty="0" err="1"/>
              <a:t>Overall_Rating</a:t>
            </a:r>
            <a:r>
              <a:rPr lang="en-US" sz="2400" dirty="0"/>
              <a:t> greater than 1.5. 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CA72F9-2208-F8C1-1870-A2474D6F9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921" y="1880971"/>
            <a:ext cx="4067743" cy="30960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A46930-9CCF-093F-DAD3-1EF2AAD0F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954" y="2633725"/>
            <a:ext cx="4887007" cy="12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9709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96E9B-332E-73AC-3ADE-B3DCDE459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5) First, ensure the </a:t>
            </a:r>
            <a:r>
              <a:rPr lang="en-US" sz="2400" dirty="0" err="1"/>
              <a:t>HighlyRatedMexicanRestaurants</a:t>
            </a:r>
            <a:r>
              <a:rPr lang="en-US" sz="2400" dirty="0"/>
              <a:t> view from Q7 exists. Then, using a CTE to find consumers who prefer 'Mexican' cuisine, list those consumers (</a:t>
            </a:r>
            <a:r>
              <a:rPr lang="en-US" sz="2400" dirty="0" err="1"/>
              <a:t>Consumer_ID</a:t>
            </a:r>
            <a:r>
              <a:rPr lang="en-US" sz="2400" dirty="0"/>
              <a:t>) who have not rated any restaurant listed in the </a:t>
            </a:r>
            <a:r>
              <a:rPr lang="en-US" sz="2400" dirty="0" err="1"/>
              <a:t>HighlyRatedMexicanRestaurants</a:t>
            </a:r>
            <a:r>
              <a:rPr lang="en-US" sz="2400" dirty="0"/>
              <a:t> view.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974B12-BE99-7B13-9C78-AEC6B5CBC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169" y="1843304"/>
            <a:ext cx="3696216" cy="35056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FFED5D-66D3-4BD4-2CBD-98464D7CC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5164" y="1843304"/>
            <a:ext cx="1295581" cy="306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1398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53D79-9C12-D9C3-B85C-91832B207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6) First, create a VIEW named </a:t>
            </a:r>
            <a:r>
              <a:rPr lang="en-US" sz="2400" dirty="0" err="1"/>
              <a:t>ConsumerAverageRatings</a:t>
            </a:r>
            <a:r>
              <a:rPr lang="en-US" sz="2400" dirty="0"/>
              <a:t> that lists </a:t>
            </a:r>
            <a:r>
              <a:rPr lang="en-US" sz="2400" dirty="0" err="1"/>
              <a:t>Consumer_ID</a:t>
            </a:r>
            <a:r>
              <a:rPr lang="en-US" sz="2400" dirty="0"/>
              <a:t> and their average </a:t>
            </a:r>
            <a:r>
              <a:rPr lang="en-US" sz="2400" dirty="0" err="1"/>
              <a:t>Overall_Rating</a:t>
            </a:r>
            <a:r>
              <a:rPr lang="en-US" sz="2400" dirty="0"/>
              <a:t>. 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7A0CAF-E9FA-CB6D-D9A7-23892B614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257" y="2331330"/>
            <a:ext cx="3315163" cy="20576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DED775-88CA-723E-F3F8-062EFD924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6253" y="1831197"/>
            <a:ext cx="2152950" cy="305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3761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CBA87-6D90-55C1-1628-49ED7A5C4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Final business insights and recommendations</a:t>
            </a:r>
            <a:endParaRPr lang="en-IN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58A8141-BF47-A197-20F0-5B22FB1598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690688"/>
            <a:ext cx="9871364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are the most engaged consumers but are highly price-sensitive making affordability and value offerings critical.</a:t>
            </a: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Consumers above 30 provide more consistent and reliable ratings, serving as a strong indicator of true restaurant quality.</a:t>
            </a: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Mexican cuisine is widely popular but highly competitive, with only a few restaurants achieving consistently high ratings.</a:t>
            </a: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Franchise restaurants deliver stable experiences but lack differentiation, limiting their ability to stand out on quality.</a:t>
            </a: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Location and non-food factors such as parking and city demographics significantly influence restaurant ratings and customer satisfaction.</a:t>
            </a:r>
          </a:p>
        </p:txBody>
      </p:sp>
    </p:spTree>
    <p:extLst>
      <p:ext uri="{BB962C8B-B14F-4D97-AF65-F5344CB8AC3E}">
        <p14:creationId xmlns:p14="http://schemas.microsoft.com/office/powerpoint/2010/main" val="10536598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775D0-44CE-CB7E-9492-50155D199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Challenges working on SQL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C09A42-9A02-8298-3446-13E49D47D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Designing efficient Views and Stored Procedures required careful structuring to avoid performance issues.</a:t>
            </a:r>
          </a:p>
          <a:p>
            <a:r>
              <a:rPr lang="en-US" dirty="0"/>
              <a:t>Complex joins across multiple tables required careful design to avoid duplicates.</a:t>
            </a:r>
          </a:p>
          <a:p>
            <a:r>
              <a:rPr lang="en-US" dirty="0"/>
              <a:t>Large queries with CTEs and subqueries caused performance slowdowns.</a:t>
            </a:r>
          </a:p>
          <a:p>
            <a:r>
              <a:rPr lang="en-US" dirty="0"/>
              <a:t>Interpreting business meaning from numeric ratings required careful validation.</a:t>
            </a:r>
          </a:p>
          <a:p>
            <a:r>
              <a:rPr lang="en-US" dirty="0"/>
              <a:t>Ensuring correct results during multi-level filtering and subquery conditions was challenging.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38097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EBD10-F806-3CAF-441F-EFDF819DB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3C8762-201D-4FA4-D506-5EBBD411A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213966"/>
          </a:xfrm>
        </p:spPr>
        <p:txBody>
          <a:bodyPr>
            <a:normAutofit/>
          </a:bodyPr>
          <a:lstStyle/>
          <a:p>
            <a:r>
              <a:rPr lang="en-US" sz="2000" dirty="0"/>
              <a:t>The SQL queries collectively demonstrate how relational data across consumers, restaurants, cuisines, and ratings can be used to derive meaningful business insights. </a:t>
            </a:r>
          </a:p>
          <a:p>
            <a:r>
              <a:rPr lang="en-US" sz="2000" dirty="0"/>
              <a:t>By applying WHERE clauses, JOINs, subqueries, aggregations, CTEs, window functions, views, and stored procedures, the analysis successfully identifies key consumer segments, evaluates restaurant performance, and uncovers patterns in preferences and satisfaction. </a:t>
            </a:r>
          </a:p>
          <a:p>
            <a:r>
              <a:rPr lang="en-US" sz="2000" dirty="0"/>
              <a:t>Overall, these queries show that structured SQL analysis is an effective foundation for data-driven decision-making, enabling businesses to optimize customer targeting, improve restaurant quality, and enhance overall platform performance.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194790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1287</Words>
  <Application>Microsoft Office PowerPoint</Application>
  <PresentationFormat>Widescreen</PresentationFormat>
  <Paragraphs>60</Paragraphs>
  <Slides>35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Calibri</vt:lpstr>
      <vt:lpstr>Arial</vt:lpstr>
      <vt:lpstr>Libre Baskerville</vt:lpstr>
      <vt:lpstr>Office Theme</vt:lpstr>
      <vt:lpstr>PowerPoint Presentation</vt:lpstr>
      <vt:lpstr>OBJECTIVE</vt:lpstr>
      <vt:lpstr>TABLES</vt:lpstr>
      <vt:lpstr>PowerPoint Presentation</vt:lpstr>
      <vt:lpstr>ER-Diagram</vt:lpstr>
      <vt:lpstr>Using the WHERE clause to filter data based on specific criteria.  1)List all details of consumers who live in the city of Cuernavac.</vt:lpstr>
      <vt:lpstr>2) Find the Consumer_ID, Age, and Occupation of all consumers who are 'Students' AND are 'Smokers'.</vt:lpstr>
      <vt:lpstr>3) List the Name, City, Alcohol_Service, and Price of all restaurants that serve 'Wine &amp; Beer' and have a 'Medium' price level. </vt:lpstr>
      <vt:lpstr>4) Find the names and cities of all restaurants that are part of a 'Franchise'.</vt:lpstr>
      <vt:lpstr>5) Show the Consumer _ ID , Restaurant _ ID , and Overall _ Rating for all ratings where the Overall _ Rating was 'Highly Satisfactory' (which corresponds to a value of 2, according to the data dictionary).</vt:lpstr>
      <vt:lpstr>Questions JOINs with Subqueries 1) List the names and cities of all restaurants that have an Overall_Rating of 2 (Highly Satisfactory) from at least one consumer.</vt:lpstr>
      <vt:lpstr>2) Find the Consumer_ID and Age of consumers who have rated restaurants located in 'San Luis Potosi'. </vt:lpstr>
      <vt:lpstr>3) List the names of restaurants that serve 'Mexican' cuisine and have been rated by consumer 'U1001'.</vt:lpstr>
      <vt:lpstr>4) Find all details of consumers who prefer 'American' cuisine AND have a 'Medium' budget. </vt:lpstr>
      <vt:lpstr>5) List restaurants (Name, City) that have received a Food_Rating lower than the average Food_Rating across all rated restaurants.</vt:lpstr>
      <vt:lpstr>6) Find consumers (Consumer_ID, Age, Occupation) who have rated at least one restaurant but have NOT rated any restaurant that serves 'Italian' cuisine. </vt:lpstr>
      <vt:lpstr>7) List restaurants (Name) that have received ratings from consumers older than 30.</vt:lpstr>
      <vt:lpstr>8) Find the Consumer_ID and Occupation of consumers whose preferred cuisine is 'Mexican' and who have given an Overall_Rating of 0 to at least one restaurant (any restaurant). </vt:lpstr>
      <vt:lpstr>9) List the names and cities of restaurants that serve 'Pizzeria' cuisine and are located in a city where at least one 'Student' consumer lives</vt:lpstr>
      <vt:lpstr>10) Find consumers (Consumer_ID, Age) who are 'Social Drinkers' and have rated a restaurant that has 'No' parking.</vt:lpstr>
      <vt:lpstr>Questions Emphasizing WHERE Clause and Order of Execution  1) List Consumer_IDs and the count of restaurants they've rated, but only for consumers who are 'Students'. Show only students who have rated more than 2 restaurants. </vt:lpstr>
      <vt:lpstr>2) We want to categorize consumers by an 'Engagement_Score' which is their Age divided by 10 (integer division). List the Consumer_ID, Age, and this calculated Engagement_Score, but only for consumers whose Engagement_Score would be exactly 2 and who use 'Public' transportation.</vt:lpstr>
      <vt:lpstr>3)For each restaurant, calculate its average Overall_Rating. Then, list the restaurant Name, City, and its calculated average Overall_Rating, but only for restaurants located in 'Cuernavaca' AND whose calculated average Overall_Rating is greater than 1.0. </vt:lpstr>
      <vt:lpstr>4) Find consumers (Consumer_ID, Age) who are 'Married' and whose Food_Rating for any restaurant is equal to their Service_Rating for that same restaurant, but only consider ratings where the Overall_Rating was 2</vt:lpstr>
      <vt:lpstr>5) List Consumer_ID, Age, and the Name of any restaurant they rated, but only for consumers who are 'Employed' and have given a Food_Rating of 0 to at least one restaurant located in 'Ciudad Victoria'.</vt:lpstr>
      <vt:lpstr>Advanced SQL Concepts: Derived Tables, CTEs, Window Functions, Views, Stored Procedures 1) For each Occupation, find the average age of consumers. Only consider consumers who have made at least one rating. (Use a derived table to get consumers who have rated). </vt:lpstr>
      <vt:lpstr>2) For each rating, show the Consumer_ID, Restaurant_ID, Overall_Rating, and also display the average Overall_Rating given by that specific consumer across all their ratings.</vt:lpstr>
      <vt:lpstr>3) Consider all ratings made by 'Consumer_ID' = 'U1008'. For each rating, show the Restaurant_ID, Overall_Rating, and the Overall_Rating of the next restaurant they rated (if any), ordered by Restaurant_ID (as a proxy for time if rating time isn't available). Use a derived table to filter for the consumer's ratings first. </vt:lpstr>
      <vt:lpstr>4) Create a VIEW named HighlyRatedMexicanRestaurants that shows the Restaurant_ID, Name, and City of all Mexican restaurants that have an average Overall_Rating greater than 1.5. </vt:lpstr>
      <vt:lpstr>5) First, ensure the HighlyRatedMexicanRestaurants view from Q7 exists. Then, using a CTE to find consumers who prefer 'Mexican' cuisine, list those consumers (Consumer_ID) who have not rated any restaurant listed in the HighlyRatedMexicanRestaurants view.</vt:lpstr>
      <vt:lpstr>6) First, create a VIEW named ConsumerAverageRatings that lists Consumer_ID and their average Overall_Rating. </vt:lpstr>
      <vt:lpstr>Final business insights and recommendations</vt:lpstr>
      <vt:lpstr>Challenges working on SQL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sushash v</cp:lastModifiedBy>
  <cp:revision>1</cp:revision>
  <dcterms:created xsi:type="dcterms:W3CDTF">2021-02-16T05:19:01Z</dcterms:created>
  <dcterms:modified xsi:type="dcterms:W3CDTF">2025-12-21T18:42:54Z</dcterms:modified>
</cp:coreProperties>
</file>